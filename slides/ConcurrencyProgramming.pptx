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ricolage Grotesque Bold" charset="1" panose="020B0605040402000204"/>
      <p:regular r:id="rId19"/>
    </p:embeddedFont>
    <p:embeddedFont>
      <p:font typeface="Glacial Indifference" charset="1" panose="00000000000000000000"/>
      <p:regular r:id="rId20"/>
    </p:embeddedFont>
    <p:embeddedFont>
      <p:font typeface="Glacial Indifference Italics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488458">
            <a:off x="-2998303" y="-950627"/>
            <a:ext cx="7918527" cy="5239668"/>
          </a:xfrm>
          <a:custGeom>
            <a:avLst/>
            <a:gdLst/>
            <a:ahLst/>
            <a:cxnLst/>
            <a:rect r="r" b="b" t="t" l="l"/>
            <a:pathLst>
              <a:path h="5239668" w="7918527">
                <a:moveTo>
                  <a:pt x="7918527" y="0"/>
                </a:moveTo>
                <a:lnTo>
                  <a:pt x="0" y="0"/>
                </a:lnTo>
                <a:lnTo>
                  <a:pt x="0" y="5239668"/>
                </a:lnTo>
                <a:lnTo>
                  <a:pt x="7918527" y="5239668"/>
                </a:lnTo>
                <a:lnTo>
                  <a:pt x="79185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00036" y="5921410"/>
            <a:ext cx="7918527" cy="5239668"/>
          </a:xfrm>
          <a:custGeom>
            <a:avLst/>
            <a:gdLst/>
            <a:ahLst/>
            <a:cxnLst/>
            <a:rect r="r" b="b" t="t" l="l"/>
            <a:pathLst>
              <a:path h="5239668" w="7918527">
                <a:moveTo>
                  <a:pt x="7918528" y="0"/>
                </a:moveTo>
                <a:lnTo>
                  <a:pt x="0" y="0"/>
                </a:lnTo>
                <a:lnTo>
                  <a:pt x="0" y="5239668"/>
                </a:lnTo>
                <a:lnTo>
                  <a:pt x="7918528" y="5239668"/>
                </a:lnTo>
                <a:lnTo>
                  <a:pt x="79185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9647" y="5473215"/>
            <a:ext cx="5662430" cy="5106482"/>
          </a:xfrm>
          <a:custGeom>
            <a:avLst/>
            <a:gdLst/>
            <a:ahLst/>
            <a:cxnLst/>
            <a:rect r="r" b="b" t="t" l="l"/>
            <a:pathLst>
              <a:path h="5106482" w="5662430">
                <a:moveTo>
                  <a:pt x="0" y="0"/>
                </a:moveTo>
                <a:lnTo>
                  <a:pt x="5662429" y="0"/>
                </a:lnTo>
                <a:lnTo>
                  <a:pt x="5662429" y="5106482"/>
                </a:lnTo>
                <a:lnTo>
                  <a:pt x="0" y="5106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85271" y="-255271"/>
            <a:ext cx="5677635" cy="5120194"/>
          </a:xfrm>
          <a:custGeom>
            <a:avLst/>
            <a:gdLst/>
            <a:ahLst/>
            <a:cxnLst/>
            <a:rect r="r" b="b" t="t" l="l"/>
            <a:pathLst>
              <a:path h="5120194" w="5677635">
                <a:moveTo>
                  <a:pt x="5677635" y="5120195"/>
                </a:moveTo>
                <a:lnTo>
                  <a:pt x="0" y="5120195"/>
                </a:lnTo>
                <a:lnTo>
                  <a:pt x="0" y="0"/>
                </a:lnTo>
                <a:lnTo>
                  <a:pt x="5677635" y="0"/>
                </a:lnTo>
                <a:lnTo>
                  <a:pt x="5677635" y="51201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9096" y="3439427"/>
            <a:ext cx="17478904" cy="141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8"/>
              </a:lnSpc>
              <a:spcBef>
                <a:spcPct val="0"/>
              </a:spcBef>
            </a:pPr>
            <a:r>
              <a:rPr lang="en-US" b="true" sz="822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CONCURRENCY PROGRAMMING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5035" y="5493589"/>
            <a:ext cx="7317929" cy="76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  <a:spcBef>
                <a:spcPct val="0"/>
              </a:spcBef>
            </a:pPr>
            <a:r>
              <a:rPr lang="en-US" sz="449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 : Nguyen Ho (Eddy)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6612">
            <a:off x="-3377646" y="5643092"/>
            <a:ext cx="8812692" cy="5831334"/>
          </a:xfrm>
          <a:custGeom>
            <a:avLst/>
            <a:gdLst/>
            <a:ahLst/>
            <a:cxnLst/>
            <a:rect r="r" b="b" t="t" l="l"/>
            <a:pathLst>
              <a:path h="5831334" w="8812692">
                <a:moveTo>
                  <a:pt x="0" y="0"/>
                </a:moveTo>
                <a:lnTo>
                  <a:pt x="8812692" y="0"/>
                </a:lnTo>
                <a:lnTo>
                  <a:pt x="8812692" y="5831334"/>
                </a:lnTo>
                <a:lnTo>
                  <a:pt x="0" y="583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66568">
            <a:off x="-6827301" y="-696287"/>
            <a:ext cx="12653855" cy="5291612"/>
          </a:xfrm>
          <a:custGeom>
            <a:avLst/>
            <a:gdLst/>
            <a:ahLst/>
            <a:cxnLst/>
            <a:rect r="r" b="b" t="t" l="l"/>
            <a:pathLst>
              <a:path h="5291612" w="12653855">
                <a:moveTo>
                  <a:pt x="0" y="0"/>
                </a:moveTo>
                <a:lnTo>
                  <a:pt x="12653855" y="0"/>
                </a:lnTo>
                <a:lnTo>
                  <a:pt x="12653855" y="5291612"/>
                </a:lnTo>
                <a:lnTo>
                  <a:pt x="0" y="529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329453" y="9654318"/>
            <a:ext cx="10576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27410" y="3992967"/>
            <a:ext cx="14658428" cy="475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2"/>
              </a:lnSpc>
            </a:pPr>
            <a:r>
              <a:rPr lang="en-US" sz="400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Concurrency is the ability of a system to execute multiple tasks during overlapping time periods by interleaving their.</a:t>
            </a:r>
          </a:p>
          <a:p>
            <a:pPr algn="l" marL="863951" indent="-431975" lvl="1">
              <a:lnSpc>
                <a:spcPts val="5602"/>
              </a:lnSpc>
              <a:buFont typeface="Arial"/>
              <a:buChar char="•"/>
            </a:pPr>
            <a:r>
              <a:rPr lang="en-US" sz="400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Tasks do not need to run at the exact same time</a:t>
            </a:r>
          </a:p>
          <a:p>
            <a:pPr algn="l" marL="863951" indent="-431975" lvl="1">
              <a:lnSpc>
                <a:spcPts val="5602"/>
              </a:lnSpc>
              <a:buFont typeface="Arial"/>
              <a:buChar char="•"/>
            </a:pPr>
            <a:r>
              <a:rPr lang="en-US" sz="400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The CPU switches rapidly between tasks</a:t>
            </a:r>
          </a:p>
          <a:p>
            <a:pPr algn="l" marL="863951" indent="-431975" lvl="1">
              <a:lnSpc>
                <a:spcPts val="5602"/>
              </a:lnSpc>
              <a:buFont typeface="Arial"/>
              <a:buChar char="•"/>
            </a:pPr>
            <a:r>
              <a:rPr lang="en-US" sz="400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Each task makes progress over time</a:t>
            </a:r>
          </a:p>
          <a:p>
            <a:pPr algn="l">
              <a:lnSpc>
                <a:spcPts val="5602"/>
              </a:lnSpc>
            </a:pPr>
          </a:p>
          <a:p>
            <a:pPr algn="ctr">
              <a:lnSpc>
                <a:spcPts val="43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1195" y="1543984"/>
            <a:ext cx="17145611" cy="175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1"/>
              </a:lnSpc>
              <a:spcBef>
                <a:spcPct val="0"/>
              </a:spcBef>
            </a:pPr>
            <a:r>
              <a:rPr lang="en-US" b="true" sz="102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WHAT IS CONCURRENCY?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6612">
            <a:off x="-3377646" y="5643092"/>
            <a:ext cx="8812692" cy="5831334"/>
          </a:xfrm>
          <a:custGeom>
            <a:avLst/>
            <a:gdLst/>
            <a:ahLst/>
            <a:cxnLst/>
            <a:rect r="r" b="b" t="t" l="l"/>
            <a:pathLst>
              <a:path h="5831334" w="8812692">
                <a:moveTo>
                  <a:pt x="0" y="0"/>
                </a:moveTo>
                <a:lnTo>
                  <a:pt x="8812692" y="0"/>
                </a:lnTo>
                <a:lnTo>
                  <a:pt x="8812692" y="5831334"/>
                </a:lnTo>
                <a:lnTo>
                  <a:pt x="0" y="583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66568">
            <a:off x="-6827301" y="-696287"/>
            <a:ext cx="12653855" cy="5291612"/>
          </a:xfrm>
          <a:custGeom>
            <a:avLst/>
            <a:gdLst/>
            <a:ahLst/>
            <a:cxnLst/>
            <a:rect r="r" b="b" t="t" l="l"/>
            <a:pathLst>
              <a:path h="5291612" w="12653855">
                <a:moveTo>
                  <a:pt x="0" y="0"/>
                </a:moveTo>
                <a:lnTo>
                  <a:pt x="12653855" y="0"/>
                </a:lnTo>
                <a:lnTo>
                  <a:pt x="12653855" y="5291612"/>
                </a:lnTo>
                <a:lnTo>
                  <a:pt x="0" y="529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329453" y="9654318"/>
            <a:ext cx="10576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95870" y="5177093"/>
            <a:ext cx="4517941" cy="2871533"/>
            <a:chOff x="0" y="0"/>
            <a:chExt cx="1466838" cy="9322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32973" y="5459602"/>
            <a:ext cx="3715345" cy="273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6"/>
              </a:lnSpc>
            </a:pPr>
            <a:r>
              <a:rPr lang="en-US" sz="520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Improves performance</a:t>
            </a:r>
          </a:p>
          <a:p>
            <a:pPr algn="ctr">
              <a:lnSpc>
                <a:spcPts val="728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95870" y="1853265"/>
            <a:ext cx="14896259" cy="356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1"/>
              </a:lnSpc>
            </a:pPr>
            <a:r>
              <a:rPr lang="en-US" b="true" sz="102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WHY CONCURRENCY?</a:t>
            </a:r>
          </a:p>
          <a:p>
            <a:pPr algn="ctr">
              <a:lnSpc>
                <a:spcPts val="1431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778112" y="4212323"/>
            <a:ext cx="2266736" cy="93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7"/>
              </a:lnSpc>
              <a:spcBef>
                <a:spcPct val="0"/>
              </a:spcBef>
            </a:pPr>
            <a:r>
              <a:rPr lang="en-US" b="true" sz="54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86888" y="5177093"/>
            <a:ext cx="4517941" cy="2871533"/>
            <a:chOff x="0" y="0"/>
            <a:chExt cx="1466838" cy="9322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80630" y="5543806"/>
            <a:ext cx="4243734" cy="273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6"/>
              </a:lnSpc>
            </a:pPr>
            <a:r>
              <a:rPr lang="en-US" sz="520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Enhances responsiveness</a:t>
            </a:r>
          </a:p>
          <a:p>
            <a:pPr algn="ctr">
              <a:lnSpc>
                <a:spcPts val="728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969130" y="4212323"/>
            <a:ext cx="2266736" cy="93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7"/>
              </a:lnSpc>
              <a:spcBef>
                <a:spcPct val="0"/>
              </a:spcBef>
            </a:pPr>
            <a:r>
              <a:rPr lang="en-US" b="true" sz="54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2054" y="5177093"/>
            <a:ext cx="4517941" cy="2871533"/>
            <a:chOff x="0" y="0"/>
            <a:chExt cx="1466838" cy="932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6354" y="5081843"/>
            <a:ext cx="4139417" cy="365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6"/>
              </a:lnSpc>
            </a:pPr>
            <a:r>
              <a:rPr lang="en-US" sz="520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Handles multiple tasks efficiently</a:t>
            </a:r>
          </a:p>
          <a:p>
            <a:pPr algn="ctr">
              <a:lnSpc>
                <a:spcPts val="7286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144296" y="4212323"/>
            <a:ext cx="2266736" cy="93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7"/>
              </a:lnSpc>
              <a:spcBef>
                <a:spcPct val="0"/>
              </a:spcBef>
            </a:pPr>
            <a:r>
              <a:rPr lang="en-US" b="true" sz="54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394" y="372495"/>
            <a:ext cx="11055170" cy="9542009"/>
          </a:xfrm>
          <a:custGeom>
            <a:avLst/>
            <a:gdLst/>
            <a:ahLst/>
            <a:cxnLst/>
            <a:rect r="r" b="b" t="t" l="l"/>
            <a:pathLst>
              <a:path h="9542009" w="11055170">
                <a:moveTo>
                  <a:pt x="0" y="0"/>
                </a:moveTo>
                <a:lnTo>
                  <a:pt x="11055170" y="0"/>
                </a:lnTo>
                <a:lnTo>
                  <a:pt x="11055170" y="9542010"/>
                </a:lnTo>
                <a:lnTo>
                  <a:pt x="0" y="9542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10054" y="3973222"/>
            <a:ext cx="4088466" cy="5941283"/>
          </a:xfrm>
          <a:custGeom>
            <a:avLst/>
            <a:gdLst/>
            <a:ahLst/>
            <a:cxnLst/>
            <a:rect r="r" b="b" t="t" l="l"/>
            <a:pathLst>
              <a:path h="5941283" w="4088466">
                <a:moveTo>
                  <a:pt x="0" y="0"/>
                </a:moveTo>
                <a:lnTo>
                  <a:pt x="4088467" y="0"/>
                </a:lnTo>
                <a:lnTo>
                  <a:pt x="4088467" y="5941283"/>
                </a:lnTo>
                <a:lnTo>
                  <a:pt x="0" y="5941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045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58390" y="385458"/>
            <a:ext cx="7991795" cy="28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2"/>
              </a:lnSpc>
              <a:spcBef>
                <a:spcPct val="0"/>
              </a:spcBef>
            </a:pPr>
            <a:r>
              <a:rPr lang="en-US" b="true" sz="82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SEQUENTIAL EXECUTION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5541" y="421685"/>
            <a:ext cx="12172459" cy="9443629"/>
          </a:xfrm>
          <a:custGeom>
            <a:avLst/>
            <a:gdLst/>
            <a:ahLst/>
            <a:cxnLst/>
            <a:rect r="r" b="b" t="t" l="l"/>
            <a:pathLst>
              <a:path h="9443629" w="12172459">
                <a:moveTo>
                  <a:pt x="0" y="0"/>
                </a:moveTo>
                <a:lnTo>
                  <a:pt x="12172459" y="0"/>
                </a:lnTo>
                <a:lnTo>
                  <a:pt x="12172459" y="9443630"/>
                </a:lnTo>
                <a:lnTo>
                  <a:pt x="0" y="944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" r="-1426" b="-38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1069" y="4056734"/>
            <a:ext cx="3774218" cy="5450712"/>
          </a:xfrm>
          <a:custGeom>
            <a:avLst/>
            <a:gdLst/>
            <a:ahLst/>
            <a:cxnLst/>
            <a:rect r="r" b="b" t="t" l="l"/>
            <a:pathLst>
              <a:path h="5450712" w="3774218">
                <a:moveTo>
                  <a:pt x="0" y="0"/>
                </a:moveTo>
                <a:lnTo>
                  <a:pt x="3774218" y="0"/>
                </a:lnTo>
                <a:lnTo>
                  <a:pt x="3774218" y="5450712"/>
                </a:lnTo>
                <a:lnTo>
                  <a:pt x="0" y="5450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634666" y="895350"/>
            <a:ext cx="7308850" cy="230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72"/>
              </a:lnSpc>
              <a:spcBef>
                <a:spcPct val="0"/>
              </a:spcBef>
            </a:pPr>
            <a:r>
              <a:rPr lang="en-US" b="true" sz="66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CONCURRENT EXCUTION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67628" y="62356"/>
          <a:ext cx="17552744" cy="10162289"/>
        </p:xfrm>
        <a:graphic>
          <a:graphicData uri="http://schemas.openxmlformats.org/drawingml/2006/table">
            <a:tbl>
              <a:tblPr/>
              <a:tblGrid>
                <a:gridCol w="2497169"/>
                <a:gridCol w="6667287"/>
                <a:gridCol w="8388288"/>
              </a:tblGrid>
              <a:tr h="1623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Sequential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Concurrent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7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Execution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One task at a time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Multiple tasks overlap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Slower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Faster (in many cases)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Complexity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Simple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More complex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Output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Predictable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May be interleaved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Resource Usage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Better utilization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Time (Big-O)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O(n + m)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O(max(n, m)) (ideal)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294" y="392143"/>
            <a:ext cx="11448158" cy="9561285"/>
          </a:xfrm>
          <a:custGeom>
            <a:avLst/>
            <a:gdLst/>
            <a:ahLst/>
            <a:cxnLst/>
            <a:rect r="r" b="b" t="t" l="l"/>
            <a:pathLst>
              <a:path h="9561285" w="11448158">
                <a:moveTo>
                  <a:pt x="0" y="0"/>
                </a:moveTo>
                <a:lnTo>
                  <a:pt x="11448158" y="0"/>
                </a:lnTo>
                <a:lnTo>
                  <a:pt x="11448158" y="9561285"/>
                </a:lnTo>
                <a:lnTo>
                  <a:pt x="0" y="956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53431" y="5538332"/>
            <a:ext cx="6230233" cy="4415097"/>
          </a:xfrm>
          <a:custGeom>
            <a:avLst/>
            <a:gdLst/>
            <a:ahLst/>
            <a:cxnLst/>
            <a:rect r="r" b="b" t="t" l="l"/>
            <a:pathLst>
              <a:path h="4415097" w="6230233">
                <a:moveTo>
                  <a:pt x="0" y="0"/>
                </a:moveTo>
                <a:lnTo>
                  <a:pt x="6230234" y="0"/>
                </a:lnTo>
                <a:lnTo>
                  <a:pt x="6230234" y="4415096"/>
                </a:lnTo>
                <a:lnTo>
                  <a:pt x="0" y="4415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360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85977" y="1132665"/>
            <a:ext cx="6765143" cy="325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1"/>
              </a:lnSpc>
              <a:spcBef>
                <a:spcPct val="0"/>
              </a:spcBef>
            </a:pPr>
            <a:r>
              <a:rPr lang="en-US" b="true" sz="93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RACE CONDITION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6612">
            <a:off x="-3377646" y="5643092"/>
            <a:ext cx="8812692" cy="5831334"/>
          </a:xfrm>
          <a:custGeom>
            <a:avLst/>
            <a:gdLst/>
            <a:ahLst/>
            <a:cxnLst/>
            <a:rect r="r" b="b" t="t" l="l"/>
            <a:pathLst>
              <a:path h="5831334" w="8812692">
                <a:moveTo>
                  <a:pt x="0" y="0"/>
                </a:moveTo>
                <a:lnTo>
                  <a:pt x="8812692" y="0"/>
                </a:lnTo>
                <a:lnTo>
                  <a:pt x="8812692" y="5831334"/>
                </a:lnTo>
                <a:lnTo>
                  <a:pt x="0" y="583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66568">
            <a:off x="-6827301" y="-696287"/>
            <a:ext cx="12653855" cy="5291612"/>
          </a:xfrm>
          <a:custGeom>
            <a:avLst/>
            <a:gdLst/>
            <a:ahLst/>
            <a:cxnLst/>
            <a:rect r="r" b="b" t="t" l="l"/>
            <a:pathLst>
              <a:path h="5291612" w="12653855">
                <a:moveTo>
                  <a:pt x="0" y="0"/>
                </a:moveTo>
                <a:lnTo>
                  <a:pt x="12653855" y="0"/>
                </a:lnTo>
                <a:lnTo>
                  <a:pt x="12653855" y="5291612"/>
                </a:lnTo>
                <a:lnTo>
                  <a:pt x="0" y="529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329453" y="9654318"/>
            <a:ext cx="10576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361751" y="1853265"/>
            <a:ext cx="11564498" cy="175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1"/>
              </a:lnSpc>
              <a:spcBef>
                <a:spcPct val="0"/>
              </a:spcBef>
            </a:pPr>
            <a:r>
              <a:rPr lang="en-US" b="true" sz="102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RACE CONDITION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23989" y="4096097"/>
            <a:ext cx="13820192" cy="477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race condition occurs when multiple threads access and modify shared data at the same time, leading to unpredictable results.</a:t>
            </a:r>
          </a:p>
          <a:p>
            <a:pPr algn="l">
              <a:lnSpc>
                <a:spcPts val="4252"/>
              </a:lnSpc>
            </a:pPr>
          </a:p>
          <a:p>
            <a:pPr algn="l">
              <a:lnSpc>
                <a:spcPts val="4252"/>
              </a:lnSpc>
            </a:pPr>
            <a:r>
              <a:rPr lang="en-US" sz="30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Our Bomb Example:</a:t>
            </a:r>
          </a:p>
          <a:p>
            <a:pPr algn="l" marL="655824" indent="-327912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Bomb A and Bomb B share the same counter</a:t>
            </a:r>
          </a:p>
          <a:p>
            <a:pPr algn="l" marL="655824" indent="-327912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Both try to update it at the same time</a:t>
            </a:r>
          </a:p>
          <a:p>
            <a:pPr algn="l" marL="655824" indent="-327912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result becomes incorrect</a:t>
            </a:r>
          </a:p>
          <a:p>
            <a:pPr algn="l">
              <a:lnSpc>
                <a:spcPts val="4252"/>
              </a:lnSpc>
            </a:pPr>
          </a:p>
          <a:p>
            <a:pPr algn="just">
              <a:lnSpc>
                <a:spcPts val="42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6612">
            <a:off x="-3377646" y="5643092"/>
            <a:ext cx="8812692" cy="5831334"/>
          </a:xfrm>
          <a:custGeom>
            <a:avLst/>
            <a:gdLst/>
            <a:ahLst/>
            <a:cxnLst/>
            <a:rect r="r" b="b" t="t" l="l"/>
            <a:pathLst>
              <a:path h="5831334" w="8812692">
                <a:moveTo>
                  <a:pt x="0" y="0"/>
                </a:moveTo>
                <a:lnTo>
                  <a:pt x="8812692" y="0"/>
                </a:lnTo>
                <a:lnTo>
                  <a:pt x="8812692" y="5831334"/>
                </a:lnTo>
                <a:lnTo>
                  <a:pt x="0" y="583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66568">
            <a:off x="-6827301" y="-696287"/>
            <a:ext cx="12653855" cy="5291612"/>
          </a:xfrm>
          <a:custGeom>
            <a:avLst/>
            <a:gdLst/>
            <a:ahLst/>
            <a:cxnLst/>
            <a:rect r="r" b="b" t="t" l="l"/>
            <a:pathLst>
              <a:path h="5291612" w="12653855">
                <a:moveTo>
                  <a:pt x="0" y="0"/>
                </a:moveTo>
                <a:lnTo>
                  <a:pt x="12653855" y="0"/>
                </a:lnTo>
                <a:lnTo>
                  <a:pt x="12653855" y="5291612"/>
                </a:lnTo>
                <a:lnTo>
                  <a:pt x="0" y="529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329453" y="9654318"/>
            <a:ext cx="10576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773172" y="1853265"/>
            <a:ext cx="12741657" cy="175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1"/>
              </a:lnSpc>
              <a:spcBef>
                <a:spcPct val="0"/>
              </a:spcBef>
            </a:pPr>
            <a:r>
              <a:rPr lang="en-US" b="true" sz="102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SYNCHRONIZATION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47499" y="4149548"/>
            <a:ext cx="13228125" cy="390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3"/>
              </a:lnSpc>
            </a:pPr>
            <a:r>
              <a:rPr lang="en-US" sz="3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Synchronization is used to control access to shared data, allowing only one thread to execute a critical section at a time.</a:t>
            </a:r>
          </a:p>
          <a:p>
            <a:pPr algn="just">
              <a:lnSpc>
                <a:spcPts val="4483"/>
              </a:lnSpc>
            </a:pPr>
          </a:p>
          <a:p>
            <a:pPr algn="just">
              <a:lnSpc>
                <a:spcPts val="4483"/>
              </a:lnSpc>
            </a:pPr>
            <a:r>
              <a:rPr lang="en-US" sz="3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 to Bomb Example</a:t>
            </a:r>
          </a:p>
          <a:p>
            <a:pPr algn="just" marL="691387" indent="-345693" lvl="1">
              <a:lnSpc>
                <a:spcPts val="4483"/>
              </a:lnSpc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Bomb A and Bomb B share the same counter</a:t>
            </a:r>
          </a:p>
          <a:p>
            <a:pPr algn="just" marL="691387" indent="-345693" lvl="1">
              <a:lnSpc>
                <a:spcPts val="4483"/>
              </a:lnSpc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lock the counter when updating</a:t>
            </a:r>
          </a:p>
          <a:p>
            <a:pPr algn="just" marL="691387" indent="-345693" lvl="1">
              <a:lnSpc>
                <a:spcPts val="4483"/>
              </a:lnSpc>
              <a:spcBef>
                <a:spcPct val="0"/>
              </a:spcBef>
              <a:buFont typeface="Arial"/>
              <a:buChar char="•"/>
            </a:pPr>
            <a:r>
              <a:rPr lang="en-US" sz="3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Only one thread can update at a time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036" y="395662"/>
            <a:ext cx="14061294" cy="9495677"/>
          </a:xfrm>
          <a:custGeom>
            <a:avLst/>
            <a:gdLst/>
            <a:ahLst/>
            <a:cxnLst/>
            <a:rect r="r" b="b" t="t" l="l"/>
            <a:pathLst>
              <a:path h="9495677" w="14061294">
                <a:moveTo>
                  <a:pt x="0" y="0"/>
                </a:moveTo>
                <a:lnTo>
                  <a:pt x="14061293" y="0"/>
                </a:lnTo>
                <a:lnTo>
                  <a:pt x="14061293" y="9495676"/>
                </a:lnTo>
                <a:lnTo>
                  <a:pt x="0" y="9495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1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95619" y="4404331"/>
            <a:ext cx="3551176" cy="5487007"/>
          </a:xfrm>
          <a:custGeom>
            <a:avLst/>
            <a:gdLst/>
            <a:ahLst/>
            <a:cxnLst/>
            <a:rect r="r" b="b" t="t" l="l"/>
            <a:pathLst>
              <a:path h="5487007" w="3551176">
                <a:moveTo>
                  <a:pt x="0" y="0"/>
                </a:moveTo>
                <a:lnTo>
                  <a:pt x="3551176" y="0"/>
                </a:lnTo>
                <a:lnTo>
                  <a:pt x="3551176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39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3084" y="0"/>
            <a:ext cx="14396085" cy="10287000"/>
          </a:xfrm>
          <a:custGeom>
            <a:avLst/>
            <a:gdLst/>
            <a:ahLst/>
            <a:cxnLst/>
            <a:rect r="r" b="b" t="t" l="l"/>
            <a:pathLst>
              <a:path h="10287000" w="14396085">
                <a:moveTo>
                  <a:pt x="0" y="0"/>
                </a:moveTo>
                <a:lnTo>
                  <a:pt x="14396085" y="0"/>
                </a:lnTo>
                <a:lnTo>
                  <a:pt x="143960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74" r="-1400" b="-395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6612">
            <a:off x="-3377646" y="5643092"/>
            <a:ext cx="8812692" cy="5831334"/>
          </a:xfrm>
          <a:custGeom>
            <a:avLst/>
            <a:gdLst/>
            <a:ahLst/>
            <a:cxnLst/>
            <a:rect r="r" b="b" t="t" l="l"/>
            <a:pathLst>
              <a:path h="5831334" w="8812692">
                <a:moveTo>
                  <a:pt x="0" y="0"/>
                </a:moveTo>
                <a:lnTo>
                  <a:pt x="8812692" y="0"/>
                </a:lnTo>
                <a:lnTo>
                  <a:pt x="8812692" y="5831334"/>
                </a:lnTo>
                <a:lnTo>
                  <a:pt x="0" y="583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66568">
            <a:off x="-6827301" y="-696287"/>
            <a:ext cx="12653855" cy="5291612"/>
          </a:xfrm>
          <a:custGeom>
            <a:avLst/>
            <a:gdLst/>
            <a:ahLst/>
            <a:cxnLst/>
            <a:rect r="r" b="b" t="t" l="l"/>
            <a:pathLst>
              <a:path h="5291612" w="12653855">
                <a:moveTo>
                  <a:pt x="0" y="0"/>
                </a:moveTo>
                <a:lnTo>
                  <a:pt x="12653855" y="0"/>
                </a:lnTo>
                <a:lnTo>
                  <a:pt x="12653855" y="5291612"/>
                </a:lnTo>
                <a:lnTo>
                  <a:pt x="0" y="529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329453" y="9654318"/>
            <a:ext cx="10576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361751" y="1853265"/>
            <a:ext cx="11564498" cy="175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1"/>
              </a:lnSpc>
              <a:spcBef>
                <a:spcPct val="0"/>
              </a:spcBef>
            </a:pPr>
            <a:r>
              <a:rPr lang="en-US" b="true" sz="1022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1423" y="3934890"/>
            <a:ext cx="12931796" cy="469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Takeaways</a:t>
            </a:r>
          </a:p>
          <a:p>
            <a:pPr algn="l" marL="932526" indent="-466263" lvl="1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Concurrency allows multiple tasks to run efficiently</a:t>
            </a:r>
          </a:p>
          <a:p>
            <a:pPr algn="l" marL="932526" indent="-466263" lvl="1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improves performance and responsiveness</a:t>
            </a:r>
          </a:p>
          <a:p>
            <a:pPr algn="l" marL="932526" indent="-466263" lvl="1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But it introduces challenges like race conditions</a:t>
            </a:r>
          </a:p>
          <a:p>
            <a:pPr algn="l" marL="932526" indent="-466263" lvl="1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Synchronization is needed to ensure correctness</a:t>
            </a:r>
          </a:p>
          <a:p>
            <a:pPr algn="l">
              <a:lnSpc>
                <a:spcPts val="730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46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488458">
            <a:off x="-2998303" y="-950627"/>
            <a:ext cx="7918527" cy="5239668"/>
          </a:xfrm>
          <a:custGeom>
            <a:avLst/>
            <a:gdLst/>
            <a:ahLst/>
            <a:cxnLst/>
            <a:rect r="r" b="b" t="t" l="l"/>
            <a:pathLst>
              <a:path h="5239668" w="7918527">
                <a:moveTo>
                  <a:pt x="7918527" y="0"/>
                </a:moveTo>
                <a:lnTo>
                  <a:pt x="0" y="0"/>
                </a:lnTo>
                <a:lnTo>
                  <a:pt x="0" y="5239668"/>
                </a:lnTo>
                <a:lnTo>
                  <a:pt x="7918527" y="5239668"/>
                </a:lnTo>
                <a:lnTo>
                  <a:pt x="79185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00036" y="5921410"/>
            <a:ext cx="7918527" cy="5239668"/>
          </a:xfrm>
          <a:custGeom>
            <a:avLst/>
            <a:gdLst/>
            <a:ahLst/>
            <a:cxnLst/>
            <a:rect r="r" b="b" t="t" l="l"/>
            <a:pathLst>
              <a:path h="5239668" w="7918527">
                <a:moveTo>
                  <a:pt x="7918528" y="0"/>
                </a:moveTo>
                <a:lnTo>
                  <a:pt x="0" y="0"/>
                </a:lnTo>
                <a:lnTo>
                  <a:pt x="0" y="5239668"/>
                </a:lnTo>
                <a:lnTo>
                  <a:pt x="7918528" y="5239668"/>
                </a:lnTo>
                <a:lnTo>
                  <a:pt x="79185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10087" y="5553982"/>
            <a:ext cx="5572870" cy="5025715"/>
          </a:xfrm>
          <a:custGeom>
            <a:avLst/>
            <a:gdLst/>
            <a:ahLst/>
            <a:cxnLst/>
            <a:rect r="r" b="b" t="t" l="l"/>
            <a:pathLst>
              <a:path h="5025715" w="5572870">
                <a:moveTo>
                  <a:pt x="0" y="0"/>
                </a:moveTo>
                <a:lnTo>
                  <a:pt x="5572869" y="0"/>
                </a:lnTo>
                <a:lnTo>
                  <a:pt x="5572869" y="5025715"/>
                </a:lnTo>
                <a:lnTo>
                  <a:pt x="0" y="50257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85271" y="-255271"/>
            <a:ext cx="5626912" cy="5074452"/>
          </a:xfrm>
          <a:custGeom>
            <a:avLst/>
            <a:gdLst/>
            <a:ahLst/>
            <a:cxnLst/>
            <a:rect r="r" b="b" t="t" l="l"/>
            <a:pathLst>
              <a:path h="5074452" w="5626912">
                <a:moveTo>
                  <a:pt x="5626912" y="5074452"/>
                </a:moveTo>
                <a:lnTo>
                  <a:pt x="0" y="5074452"/>
                </a:lnTo>
                <a:lnTo>
                  <a:pt x="0" y="0"/>
                </a:lnTo>
                <a:lnTo>
                  <a:pt x="5626912" y="0"/>
                </a:lnTo>
                <a:lnTo>
                  <a:pt x="5626912" y="5074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4825" y="4087813"/>
            <a:ext cx="1171835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DAHHshqR1ts</dc:identifier>
  <dcterms:modified xsi:type="dcterms:W3CDTF">2011-08-01T06:04:30Z</dcterms:modified>
  <cp:revision>1</cp:revision>
  <dc:title>Blue Navy Simple Minimalist Professional Project Presentation</dc:title>
</cp:coreProperties>
</file>